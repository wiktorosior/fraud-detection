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54">
          <p15:clr>
            <a:srgbClr val="747775"/>
          </p15:clr>
        </p15:guide>
        <p15:guide id="2" pos="510">
          <p15:clr>
            <a:srgbClr val="747775"/>
          </p15:clr>
        </p15:guide>
        <p15:guide id="3" orient="horz" pos="279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54" orient="horz"/>
        <p:guide pos="510"/>
        <p:guide pos="27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7e706a4c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7e706a4c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7ea274661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7ea274661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7f08f24d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7f08f24d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7ea274661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7ea274661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7ea274661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7ea274661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7ea274661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7ea274661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7e706a4c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7e706a4c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7e706a4c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7e706a4c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7f08f24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7f08f24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7f08f24d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7f08f24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7e706a4c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7e706a4c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7f08f24d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7f08f24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7e706a4ce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7e706a4ce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7e706a4c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7e706a4c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7f08f24d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7f08f24d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7e706a4c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7e706a4c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7e706a4c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7e706a4c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7ea27466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7ea27466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0" y="1822854"/>
            <a:ext cx="5361300" cy="81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Fraud Detection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Wiktor Osior, Stanisław Reizer</a:t>
            </a:r>
            <a:endParaRPr/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1891350" y="2766046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/>
              <a:t>Problem</a:t>
            </a:r>
            <a:r>
              <a:rPr lang="pl" sz="1900"/>
              <a:t> Klasyfikacji szeregów czasowych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Zbiór danych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Syntetyczny zbiór transakcji kartami płatniczymi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10 tabel z różnymi informacjami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Zbiór po złączeniu w jedną tabelę: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00" y="3125800"/>
            <a:ext cx="8660224" cy="13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9247" y="717326"/>
            <a:ext cx="3481004" cy="10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Analiza zbioru danych</a:t>
            </a:r>
            <a:endParaRPr/>
          </a:p>
        </p:txBody>
      </p:sp>
      <p:pic>
        <p:nvPicPr>
          <p:cNvPr id="144" name="Google Shape;14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050" y="1604100"/>
            <a:ext cx="3714000" cy="29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150" y="1691825"/>
            <a:ext cx="3183300" cy="28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Analiza zbioru danych</a:t>
            </a:r>
            <a:endParaRPr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350" y="1275975"/>
            <a:ext cx="3620500" cy="29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25" y="1855501"/>
            <a:ext cx="4266474" cy="254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783325" y="344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Analiza zbioru danych - korelacja cech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875" y="1160587"/>
            <a:ext cx="3774199" cy="351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950" y="1190222"/>
            <a:ext cx="3971049" cy="3457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Analiza zbioru danych - kernel-coś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49829"/>
          <a:stretch/>
        </p:blipFill>
        <p:spPr>
          <a:xfrm>
            <a:off x="810000" y="1990725"/>
            <a:ext cx="3042376" cy="244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49829" l="0" r="0" t="0"/>
          <a:stretch/>
        </p:blipFill>
        <p:spPr>
          <a:xfrm>
            <a:off x="5282470" y="1990725"/>
            <a:ext cx="3042379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Przygotowanie zbioru do treningu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l"/>
              <a:t>One-hot encoding kategorii (w sumie 4)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l"/>
              <a:t>Ekstrakcja godziny i dnia tygodnia transakcji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l"/>
              <a:t>Stworzenie dodatkowych kolumn WorkingHours, Weekend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l"/>
              <a:t>Obliczenie czasu od ostatniego logowania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l"/>
              <a:t>Wyrzucenie zbędnych kolumn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l"/>
              <a:t>Podział zbioru na zbiory treningowy i testowy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Random Forest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8191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Przygotowanie danych:</a:t>
            </a:r>
            <a:br>
              <a:rPr lang="pl"/>
            </a:br>
            <a:r>
              <a:rPr lang="pl"/>
              <a:t>- Split na zbiór testowy i treningowy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-Oversampling SMOTE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Zastosowane metody: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cross validation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grid search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47097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Wyniki</a:t>
            </a:r>
            <a:br>
              <a:rPr lang="pl"/>
            </a:br>
            <a:r>
              <a:rPr lang="pl"/>
              <a:t>Accuracy: 90%</a:t>
            </a:r>
            <a:br>
              <a:rPr lang="pl"/>
            </a:br>
            <a:r>
              <a:rPr lang="pl"/>
              <a:t>Precision</a:t>
            </a:r>
            <a:r>
              <a:rPr lang="pl"/>
              <a:t>: 7%</a:t>
            </a:r>
            <a:br>
              <a:rPr lang="pl"/>
            </a:br>
            <a:r>
              <a:rPr lang="pl"/>
              <a:t>Recall: 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dla odwróconej kolejności: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Accuracy: 96%</a:t>
            </a:r>
            <a:br>
              <a:rPr lang="pl"/>
            </a:br>
            <a:r>
              <a:rPr lang="pl"/>
              <a:t>Precision: 93%</a:t>
            </a:r>
            <a:br>
              <a:rPr lang="pl"/>
            </a:br>
            <a:r>
              <a:rPr lang="pl"/>
              <a:t>Recall: 98%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Random Forest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3450" y="1990725"/>
            <a:ext cx="2681400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000" y="1990725"/>
            <a:ext cx="2681400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XGBoosted</a:t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8191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Przygotowanie danych:</a:t>
            </a:r>
            <a:br>
              <a:rPr lang="pl"/>
            </a:br>
            <a:r>
              <a:rPr lang="pl"/>
              <a:t>- Split na zbiór testowy i treningowy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-Oversampling SMOTE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Zastosowane metody: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cross validation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grid search</a:t>
            </a:r>
            <a:br>
              <a:rPr lang="pl"/>
            </a:b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47097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Wyniki</a:t>
            </a:r>
            <a:br>
              <a:rPr lang="pl"/>
            </a:br>
            <a:r>
              <a:rPr lang="pl"/>
              <a:t>Accuracy: 70%</a:t>
            </a:r>
            <a:br>
              <a:rPr lang="pl"/>
            </a:br>
            <a:r>
              <a:rPr lang="pl"/>
              <a:t>Precision: 2%</a:t>
            </a:r>
            <a:br>
              <a:rPr lang="pl"/>
            </a:br>
            <a:r>
              <a:rPr lang="pl"/>
              <a:t>Recall: 10%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dla odwróconej kolejności: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Accuracy: 96%</a:t>
            </a:r>
            <a:br>
              <a:rPr lang="pl"/>
            </a:br>
            <a:r>
              <a:rPr lang="pl"/>
              <a:t>Precision: 93%</a:t>
            </a:r>
            <a:br>
              <a:rPr lang="pl"/>
            </a:br>
            <a:r>
              <a:rPr lang="pl"/>
              <a:t>Recall: 98%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XGBoosted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3450" y="1990725"/>
            <a:ext cx="2681409" cy="24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000" y="1990721"/>
            <a:ext cx="2681400" cy="244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Czym są RNNy?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275" y="2798550"/>
            <a:ext cx="5309096" cy="16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200" y="664150"/>
            <a:ext cx="3914400" cy="171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/>
        </p:nvSpPr>
        <p:spPr>
          <a:xfrm>
            <a:off x="726050" y="1767025"/>
            <a:ext cx="3847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Output w zwykłych NNach zależy tylko od inputów.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Output w RNNach zależy także od poprzednich inputów.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6270250" y="2874900"/>
            <a:ext cx="2560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Zalety: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Uwzględniają przeszłe inputy, dlatego nadają się do problemów związanych z upływem czasu.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Wady: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Gradient vanishing/explosion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RNN</a:t>
            </a:r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8191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Przygotowanie danych:</a:t>
            </a:r>
            <a:br>
              <a:rPr lang="pl"/>
            </a:br>
            <a:r>
              <a:rPr lang="pl"/>
              <a:t>- </a:t>
            </a:r>
            <a:r>
              <a:rPr lang="pl"/>
              <a:t>Pogrupowanie transakcji wg CustomerID i posortowanie po czasie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Skalowanie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Dodanie paddingu, żeby wyrównać długość grup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policzenie i dodanie wag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Specyfikacja </a:t>
            </a:r>
            <a:r>
              <a:rPr lang="pl" sz="1600"/>
              <a:t>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R</a:t>
            </a:r>
            <a:r>
              <a:rPr lang="pl"/>
              <a:t>egularyzacja L2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- 2 wartwy (64 i 32 neurony)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Dropout 0,2</a:t>
            </a:r>
            <a:endParaRPr/>
          </a:p>
        </p:txBody>
      </p:sp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47097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Wyniki</a:t>
            </a:r>
            <a:br>
              <a:rPr lang="pl"/>
            </a:br>
            <a:r>
              <a:rPr lang="pl"/>
              <a:t>Accuracy: 80%</a:t>
            </a:r>
            <a:br>
              <a:rPr lang="pl"/>
            </a:br>
            <a:r>
              <a:rPr lang="pl"/>
              <a:t>Precision: 2%</a:t>
            </a:r>
            <a:br>
              <a:rPr lang="pl"/>
            </a:br>
            <a:r>
              <a:rPr lang="pl"/>
              <a:t>Recall: 60%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RNN</a:t>
            </a:r>
            <a:endParaRPr/>
          </a:p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800212"/>
            <a:ext cx="7505701" cy="264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 - Long Short-Term Memory</a:t>
            </a: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350" y="1673925"/>
            <a:ext cx="7006251" cy="26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</a:t>
            </a:r>
            <a:endParaRPr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8191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-Przygotowanie danych:</a:t>
            </a:r>
            <a:br>
              <a:rPr lang="pl"/>
            </a:br>
            <a:r>
              <a:rPr lang="pl"/>
              <a:t>- Pogrupowanie transakcji wg CustomerID i posortowanie po czasie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Skalowanie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Dodanie paddingu, żeby wyrównać długość grup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policzenie i dodanie wag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Specyfikacja 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Regularyzacja L2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- 2 wartwy (64 i 32 neurony)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- Dropout 0,2</a:t>
            </a:r>
            <a:endParaRPr sz="1600"/>
          </a:p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47097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Wyniki</a:t>
            </a:r>
            <a:br>
              <a:rPr lang="pl"/>
            </a:br>
            <a:r>
              <a:rPr lang="pl"/>
              <a:t>Accuracy: 62%</a:t>
            </a:r>
            <a:br>
              <a:rPr lang="pl"/>
            </a:br>
            <a:r>
              <a:rPr lang="pl"/>
              <a:t>Precision: 1.3%</a:t>
            </a:r>
            <a:br>
              <a:rPr lang="pl"/>
            </a:br>
            <a:r>
              <a:rPr lang="pl"/>
              <a:t>Recall: 60%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pl"/>
            </a:b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LSTM</a:t>
            </a:r>
            <a:endParaRPr/>
          </a:p>
        </p:txBody>
      </p:sp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800198"/>
            <a:ext cx="7505701" cy="2647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Algorytm ROCKET</a:t>
            </a:r>
            <a:endParaRPr/>
          </a:p>
        </p:txBody>
      </p:sp>
      <p:pic>
        <p:nvPicPr>
          <p:cNvPr id="251" name="Google Shape;2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1990725"/>
            <a:ext cx="2750089" cy="24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</a:t>
            </a:r>
            <a:endParaRPr/>
          </a:p>
        </p:txBody>
      </p:sp>
      <p:sp>
        <p:nvSpPr>
          <p:cNvPr id="257" name="Google Shape;257;p3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Hierarchia</a:t>
            </a:r>
            <a:r>
              <a:rPr lang="pl"/>
              <a:t> precyzji modeli w szeregach czasowych wyszła nam tak: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LSTM, RNN &lt; XGBoost, Random Forest dla tego konkretnego zbioru danych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Oversampling jest lepszy od wag klas dla małych zbiorów danych w modelach RNN i LSTM.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Oversamplingu i wag klas się nie używa się jednocześnie.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Oversampling się wykonuje po </a:t>
            </a:r>
            <a:r>
              <a:rPr lang="pl"/>
              <a:t>podziale</a:t>
            </a:r>
            <a:r>
              <a:rPr lang="pl"/>
              <a:t> na zbiory treningowe i testowe, żeby uniknąć ‘data leakage’u’.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Regularyzacji L1 nie używa się na małych zbiorach.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